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тонн</c:v>
                </c:pt>
              </c:strCache>
            </c:strRef>
          </c:tx>
          <c:spPr>
            <a:solidFill>
              <a:srgbClr val="14B8A6"/>
            </a:solidFill>
          </c:spPr>
          <c:cat>
            <c:strRef>
              <c:f>Sheet1!$A$2:$A$3</c:f>
              <c:strCache>
                <c:ptCount val="2"/>
                <c:pt idx="0">
                  <c:v>Средний месяц 2025</c:v>
                </c:pt>
                <c:pt idx="1">
                  <c:v>Целевой месяц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EAF4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EAF4F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Единая коммерческо-производственная стратегия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EC1D9"/>
                </a:solidFill>
                <a:latin typeface="Arial"/>
              </a:defRPr>
            </a:pPr>
            <a:r>
              <a:t>Рабочая версия для решения Генерального директора · 2026–2027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BBF24"/>
                </a:solidFill>
                <a:latin typeface="Arial"/>
              </a:defRPr>
            </a:pPr>
            <a:r>
              <a:t>500 тонн в месяц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DE8F6"/>
                </a:solidFill>
                <a:latin typeface="Arial"/>
              </a:defRPr>
            </a:pPr>
            <a:r>
              <a:t>Продать · произвести · отгрузить · получить оплату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Исходная точка: цель выше текущего темпа примерно в 6 раз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0876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AF4FB"/>
                </a:solidFill>
                <a:latin typeface="Arial"/>
              </a:defRPr>
            </a:pPr>
            <a:r>
              <a:t>Около 1000 тонн произведено за 2025 год</a:t>
            </a:r>
          </a:p>
          <a:p>
            <a:pPr>
              <a:spcAft>
                <a:spcPts val="1200"/>
              </a:spcAft>
              <a:defRPr sz="1800">
                <a:solidFill>
                  <a:srgbClr val="EAF4FB"/>
                </a:solidFill>
                <a:latin typeface="Arial"/>
              </a:defRPr>
            </a:pPr>
            <a:r>
              <a:t>Около 600 тонн договоров без единого графика</a:t>
            </a:r>
          </a:p>
          <a:p>
            <a:pPr>
              <a:spcAft>
                <a:spcPts val="1200"/>
              </a:spcAft>
              <a:defRPr sz="1800">
                <a:solidFill>
                  <a:srgbClr val="EAF4FB"/>
                </a:solidFill>
                <a:latin typeface="Arial"/>
              </a:defRPr>
            </a:pPr>
            <a:r>
              <a:t>Средний заказ 50–60 тонн</a:t>
            </a:r>
          </a:p>
          <a:p>
            <a:pPr>
              <a:spcAft>
                <a:spcPts val="1200"/>
              </a:spcAft>
              <a:defRPr sz="1800">
                <a:solidFill>
                  <a:srgbClr val="EAF4FB"/>
                </a:solidFill>
                <a:latin typeface="Arial"/>
              </a:defRPr>
            </a:pPr>
            <a:r>
              <a:t>Цикл сделки 2–3 месяца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Главное ограничение — не спрос, а исполнимая мощность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AF4FB"/>
                </a:solidFill>
                <a:latin typeface="Arial"/>
              </a:defRPr>
            </a:pPr>
            <a:r>
              <a:t>Оборудование имеется, но необходимы наладка, персонал и сменность</a:t>
            </a:r>
          </a:p>
          <a:p>
            <a:pPr>
              <a:spcAft>
                <a:spcPts val="1200"/>
              </a:spcAft>
              <a:defRPr sz="2100">
                <a:solidFill>
                  <a:srgbClr val="EAF4FB"/>
                </a:solidFill>
                <a:latin typeface="Arial"/>
              </a:defRPr>
            </a:pPr>
            <a:r>
              <a:t>Каждый договор должен получить подтверждённый производственный слот</a:t>
            </a:r>
          </a:p>
          <a:p>
            <a:pPr>
              <a:spcAft>
                <a:spcPts val="1200"/>
              </a:spcAft>
              <a:defRPr sz="2100">
                <a:solidFill>
                  <a:srgbClr val="EAF4FB"/>
                </a:solidFill>
                <a:latin typeface="Arial"/>
              </a:defRPr>
            </a:pPr>
            <a:r>
              <a:t>Обещание срока клиенту — только после подтверждения производства</a:t>
            </a:r>
          </a:p>
          <a:p>
            <a:pPr>
              <a:spcAft>
                <a:spcPts val="1200"/>
              </a:spcAft>
              <a:defRPr sz="2100">
                <a:solidFill>
                  <a:srgbClr val="EAF4FB"/>
                </a:solidFill>
                <a:latin typeface="Arial"/>
              </a:defRPr>
            </a:pPr>
            <a:r>
              <a:t>Цель: рост без потери качества, сроков и оборотного капитала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Единая цепочка управления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468880"/>
            <a:ext cx="1325880" cy="914400"/>
          </a:xfrm>
          <a:prstGeom prst="roundRect">
            <a:avLst/>
          </a:prstGeom>
          <a:solidFill>
            <a:srgbClr val="0F766E"/>
          </a:solidFill>
          <a:ln>
            <a:solidFill>
              <a:srgbClr val="DD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Спрос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4792" y="27157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2468880"/>
            <a:ext cx="1325880" cy="914400"/>
          </a:xfrm>
          <a:prstGeom prst="roundRect">
            <a:avLst/>
          </a:prstGeom>
          <a:solidFill>
            <a:srgbClr val="0F766E"/>
          </a:solidFill>
          <a:ln>
            <a:solidFill>
              <a:srgbClr val="DD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Квалификация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7157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9896" y="2468880"/>
            <a:ext cx="1325880" cy="914400"/>
          </a:xfrm>
          <a:prstGeom prst="roundRect">
            <a:avLst/>
          </a:prstGeom>
          <a:solidFill>
            <a:srgbClr val="0F766E"/>
          </a:solidFill>
          <a:ln>
            <a:solidFill>
              <a:srgbClr val="DD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Договор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8" y="27157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4104" y="2468880"/>
            <a:ext cx="1325880" cy="914400"/>
          </a:xfrm>
          <a:prstGeom prst="roundRect">
            <a:avLst/>
          </a:prstGeom>
          <a:solidFill>
            <a:srgbClr val="B45309"/>
          </a:solidFill>
          <a:ln>
            <a:solidFill>
              <a:srgbClr val="DD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Слот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7416" y="27157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68312" y="2468880"/>
            <a:ext cx="1325880" cy="914400"/>
          </a:xfrm>
          <a:prstGeom prst="roundRect">
            <a:avLst/>
          </a:prstGeom>
          <a:solidFill>
            <a:srgbClr val="B45309"/>
          </a:solidFill>
          <a:ln>
            <a:solidFill>
              <a:srgbClr val="DD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Производство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27157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19" y="2468880"/>
            <a:ext cx="1325880" cy="914400"/>
          </a:xfrm>
          <a:prstGeom prst="roundRect">
            <a:avLst/>
          </a:prstGeom>
          <a:solidFill>
            <a:srgbClr val="0F766E"/>
          </a:solidFill>
          <a:ln>
            <a:solidFill>
              <a:srgbClr val="DD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Отгрузка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5832" y="27157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96728" y="2468880"/>
            <a:ext cx="1325880" cy="914400"/>
          </a:xfrm>
          <a:prstGeom prst="roundRect">
            <a:avLst/>
          </a:prstGeom>
          <a:solidFill>
            <a:srgbClr val="0F766E"/>
          </a:solidFill>
          <a:ln>
            <a:solidFill>
              <a:srgbClr val="DD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Оплата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Команда: роли без дублирования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AF4FB"/>
                </a:solidFill>
                <a:latin typeface="Arial"/>
              </a:defRPr>
            </a:pPr>
            <a:r>
              <a:t>Коммерческий директор — рынок, маржа, каналы и согласование с мощностью</a:t>
            </a:r>
          </a:p>
          <a:p>
            <a:pPr>
              <a:spcAft>
                <a:spcPts val="1200"/>
              </a:spcAft>
              <a:defRPr sz="1800">
                <a:solidFill>
                  <a:srgbClr val="EAF4FB"/>
                </a:solidFill>
                <a:latin typeface="Arial"/>
              </a:defRPr>
            </a:pPr>
            <a:r>
              <a:t>РОП — ежедневная дисциплина, обучение, воронка и прогноз</a:t>
            </a:r>
          </a:p>
          <a:p>
            <a:pPr>
              <a:spcAft>
                <a:spcPts val="1200"/>
              </a:spcAft>
              <a:defRPr sz="1800">
                <a:solidFill>
                  <a:srgbClr val="EAF4FB"/>
                </a:solidFill>
                <a:latin typeface="Arial"/>
              </a:defRPr>
            </a:pPr>
            <a:r>
              <a:t>Ведущий менеджер — крупные сделки A/B</a:t>
            </a:r>
          </a:p>
          <a:p>
            <a:pPr>
              <a:spcAft>
                <a:spcPts val="1200"/>
              </a:spcAft>
              <a:defRPr sz="1800">
                <a:solidFill>
                  <a:srgbClr val="EAF4FB"/>
                </a:solidFill>
                <a:latin typeface="Arial"/>
              </a:defRPr>
            </a:pPr>
            <a:r>
              <a:t>Координатор Астаны — рынок, встречи и объекты под наставничеством</a:t>
            </a:r>
          </a:p>
          <a:p>
            <a:pPr>
              <a:spcAft>
                <a:spcPts val="1200"/>
              </a:spcAft>
              <a:defRPr sz="1800">
                <a:solidFill>
                  <a:srgbClr val="EAF4FB"/>
                </a:solidFill>
                <a:latin typeface="Arial"/>
              </a:defRPr>
            </a:pPr>
            <a:r>
              <a:t>Менеджер по тендерам — отдельная воронка и фильтр участия</a:t>
            </a:r>
          </a:p>
          <a:p>
            <a:pPr>
              <a:spcAft>
                <a:spcPts val="1200"/>
              </a:spcAft>
              <a:defRPr sz="1800">
                <a:solidFill>
                  <a:srgbClr val="EAF4FB"/>
                </a:solidFill>
                <a:latin typeface="Arial"/>
              </a:defRPr>
            </a:pPr>
            <a:r>
              <a:t>Новый B2B-менеджер — системное пополнение проектной воронки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Производственный рост — только ступенями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BBF24"/>
                </a:solidFill>
                <a:latin typeface="Arial"/>
              </a:defRPr>
            </a:pPr>
            <a:r>
              <a:t>150–200 т/мес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871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AF4FB"/>
                </a:solidFill>
                <a:latin typeface="Arial"/>
              </a:defRPr>
            </a:pPr>
            <a:r>
              <a:t>Стабилизация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4612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EC1D9"/>
                </a:solidFill>
                <a:latin typeface="Arial"/>
              </a:defRPr>
            </a:pPr>
            <a:r>
              <a:t>Переход после двух периодов ≥90% плана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BBF24"/>
                </a:solidFill>
                <a:latin typeface="Arial"/>
              </a:defRPr>
            </a:pPr>
            <a:r>
              <a:t>250–300 т/мес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871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AF4FB"/>
                </a:solidFill>
                <a:latin typeface="Arial"/>
              </a:defRPr>
            </a:pPr>
            <a:r>
              <a:t>Первая смена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4612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EC1D9"/>
                </a:solidFill>
                <a:latin typeface="Arial"/>
              </a:defRPr>
            </a:pPr>
            <a:r>
              <a:t>Переход после двух периодов ≥90% плана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BBF24"/>
                </a:solidFill>
                <a:latin typeface="Arial"/>
              </a:defRPr>
            </a:pPr>
            <a:r>
              <a:t>350–400 т/мес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871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AF4FB"/>
                </a:solidFill>
                <a:latin typeface="Arial"/>
              </a:defRPr>
            </a:pPr>
            <a:r>
              <a:t>Сменность и материалы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24612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EC1D9"/>
                </a:solidFill>
                <a:latin typeface="Arial"/>
              </a:defRPr>
            </a:pPr>
            <a:r>
              <a:t>Переход после двух периодов ≥90% плана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8288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BBF24"/>
                </a:solidFill>
                <a:latin typeface="Arial"/>
              </a:defRPr>
            </a:pPr>
            <a:r>
              <a:t>450–500 т/мес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4871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AF4FB"/>
                </a:solidFill>
                <a:latin typeface="Arial"/>
              </a:defRPr>
            </a:pPr>
            <a:r>
              <a:t>Целевая мощность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24612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EC1D9"/>
                </a:solidFill>
                <a:latin typeface="Arial"/>
              </a:defRPr>
            </a:pPr>
            <a:r>
              <a:t>Люди + капитал + загрузка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Битрикс24: управление тоннами, сроками и маржой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Воронки: спрос, проектная продажа, исполнение, тендеры и партнёры</a:t>
            </a:r>
          </a:p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Обязательные поля: объект, тоннаж, ЛПР, бюджет, срок, следующий шаг</a:t>
            </a:r>
          </a:p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Сделка связывается с проектированием, материалом и производственным слотом</a:t>
            </a:r>
          </a:p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Панель: квалифицировано → законтрактовано → принято → выпущено → отгружено → оплачено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Коммерческая модель 500 тонн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500" b="1">
                <a:solidFill>
                  <a:srgbClr val="FBBF24"/>
                </a:solidFill>
                <a:latin typeface="Arial"/>
              </a:defRPr>
            </a:pPr>
            <a:r>
              <a:t>≈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AF4FB"/>
                </a:solidFill>
                <a:latin typeface="Arial"/>
              </a:defRPr>
            </a:pPr>
            <a:r>
              <a:t>побед в месяц</a:t>
            </a:r>
            <a:br/>
            <a:r>
              <a:t>при заказе 55 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2D3EE"/>
                </a:solidFill>
                <a:latin typeface="Arial"/>
              </a:defRPr>
            </a:pPr>
            <a:r>
              <a:t>1000–2000 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AF4FB"/>
                </a:solidFill>
                <a:latin typeface="Arial"/>
              </a:defRPr>
            </a:pPr>
            <a:r>
              <a:t>квалифицированная воронка</a:t>
            </a:r>
            <a:br/>
            <a:r>
              <a:t>при цикле 2–3 месяца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7373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4ADE80"/>
                </a:solidFill>
                <a:latin typeface="Arial"/>
              </a:defRPr>
            </a:pPr>
            <a:r>
              <a:t>4 пакета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AF4FB"/>
                </a:solidFill>
                <a:latin typeface="Arial"/>
              </a:defRPr>
            </a:pPr>
            <a:r>
              <a:t>каркас · тёплый контур</a:t>
            </a:r>
            <a:br/>
            <a:r>
              <a:t>быстрый объект · серия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Маркетинг: не охваты, а квалифицированные тонны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AF4FB"/>
                </a:solidFill>
                <a:latin typeface="Arial"/>
              </a:defRPr>
            </a:pPr>
            <a:r>
              <a:t>STAR BUILDING — завод, технология и производство</a:t>
            </a:r>
          </a:p>
          <a:p>
            <a:pPr>
              <a:spcAft>
                <a:spcPts val="1200"/>
              </a:spcAft>
              <a:defRPr sz="2100">
                <a:solidFill>
                  <a:srgbClr val="EAF4FB"/>
                </a:solidFill>
                <a:latin typeface="Arial"/>
              </a:defRPr>
            </a:pPr>
            <a:r>
              <a:t>Grand Construction — объект под ключ</a:t>
            </a:r>
          </a:p>
          <a:p>
            <a:pPr>
              <a:spcAft>
                <a:spcPts val="1200"/>
              </a:spcAft>
              <a:defRPr sz="2100">
                <a:solidFill>
                  <a:srgbClr val="EAF4FB"/>
                </a:solidFill>
                <a:latin typeface="Arial"/>
              </a:defRPr>
            </a:pPr>
            <a:r>
              <a:t>Кейсы, экскурсии, инженерные разборы и партнёрства</a:t>
            </a:r>
          </a:p>
          <a:p>
            <a:pPr>
              <a:spcAft>
                <a:spcPts val="1200"/>
              </a:spcAft>
              <a:defRPr sz="2100">
                <a:solidFill>
                  <a:srgbClr val="EAF4FB"/>
                </a:solidFill>
                <a:latin typeface="Arial"/>
              </a:defRPr>
            </a:pPr>
            <a:r>
              <a:t>Проектировщики и подрядчики — источник раннего входа в проекты</a:t>
            </a:r>
          </a:p>
          <a:p>
            <a:pPr>
              <a:spcAft>
                <a:spcPts val="1200"/>
              </a:spcAft>
              <a:defRPr sz="2100">
                <a:solidFill>
                  <a:srgbClr val="EAF4FB"/>
                </a:solidFill>
                <a:latin typeface="Arial"/>
              </a:defRPr>
            </a:pPr>
            <a:r>
              <a:t>B2B/B2G-просвещение формирует категорию ЛСТК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ИИ-контур вместо ручного производства графики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ChatGPT / Claude — тексты, сценарии и протоколы</a:t>
            </a:r>
          </a:p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Midjourney / Recraft / Firefly — визуальные концепции и графика</a:t>
            </a:r>
          </a:p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Whisper / CapCut / Runway / Kling / Veo — интервью и видео</a:t>
            </a:r>
          </a:p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n8n / Make — передача материалов и результатов в Битрикс24</a:t>
            </a:r>
          </a:p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Человек проверяет факты, технику и маркировку концептуальных материалов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2027: Астана и системный выход в B2G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Астана: 200 организаций → 30 приоритетов → 5 партнёров → воронка 1500 т</a:t>
            </a:r>
          </a:p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Сначала лёгкое представительство; постоянный офис — после контрольных рубежей</a:t>
            </a:r>
          </a:p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B2G: карта барьеров, испытания, расчёты, узлы, сметные ресурсы</a:t>
            </a:r>
          </a:p>
          <a:p>
            <a:pPr>
              <a:spcAft>
                <a:spcPts val="1200"/>
              </a:spcAft>
              <a:defRPr sz="2000">
                <a:solidFill>
                  <a:srgbClr val="EAF4FB"/>
                </a:solidFill>
                <a:latin typeface="Arial"/>
              </a:defRPr>
            </a:pPr>
            <a:r>
              <a:t>Пилотный объект превращает технологию в измеримое доказательство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F4FB"/>
                </a:solidFill>
                <a:latin typeface="Arial"/>
              </a:defRPr>
            </a:pPr>
            <a:r>
              <a:t>Решения Генерального директора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F91A8"/>
                </a:solidFill>
                <a:latin typeface="Arial"/>
              </a:defRPr>
            </a:pPr>
            <a:r>
              <a:t>STAR BUILDING · GRAND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AF4FB"/>
                </a:solidFill>
                <a:latin typeface="Arial"/>
              </a:defRPr>
            </a:pPr>
            <a:r>
              <a:t>Утвердить коммерческо-производственный комитет</a:t>
            </a:r>
          </a:p>
          <a:p>
            <a:pPr>
              <a:spcAft>
                <a:spcPts val="1200"/>
              </a:spcAft>
              <a:defRPr sz="1900">
                <a:solidFill>
                  <a:srgbClr val="EAF4FB"/>
                </a:solidFill>
                <a:latin typeface="Arial"/>
              </a:defRPr>
            </a:pPr>
            <a:r>
              <a:t>Утвердить аудит мощности и слоты для 600 тонн</a:t>
            </a:r>
          </a:p>
          <a:p>
            <a:pPr>
              <a:spcAft>
                <a:spcPts val="1200"/>
              </a:spcAft>
              <a:defRPr sz="1900">
                <a:solidFill>
                  <a:srgbClr val="EAF4FB"/>
                </a:solidFill>
                <a:latin typeface="Arial"/>
              </a:defRPr>
            </a:pPr>
            <a:r>
              <a:t>Разрешить подбор производственного персонала и B2B-менеджера</a:t>
            </a:r>
          </a:p>
          <a:p>
            <a:pPr>
              <a:spcAft>
                <a:spcPts val="1200"/>
              </a:spcAft>
              <a:defRPr sz="1900">
                <a:solidFill>
                  <a:srgbClr val="EAF4FB"/>
                </a:solidFill>
                <a:latin typeface="Arial"/>
              </a:defRPr>
            </a:pPr>
            <a:r>
              <a:t>Зафиксировать границы Коммерческого директора и РОПа</a:t>
            </a:r>
          </a:p>
          <a:p>
            <a:pPr>
              <a:spcAft>
                <a:spcPts val="1200"/>
              </a:spcAft>
              <a:defRPr sz="1900">
                <a:solidFill>
                  <a:srgbClr val="EAF4FB"/>
                </a:solidFill>
                <a:latin typeface="Arial"/>
              </a:defRPr>
            </a:pPr>
            <a:r>
              <a:t>Утвердить ступенчатый выход на 500 тонн</a:t>
            </a:r>
          </a:p>
          <a:p>
            <a:pPr>
              <a:spcAft>
                <a:spcPts val="1200"/>
              </a:spcAft>
              <a:defRPr sz="1900">
                <a:solidFill>
                  <a:srgbClr val="EAF4FB"/>
                </a:solidFill>
                <a:latin typeface="Arial"/>
              </a:defRPr>
            </a:pPr>
            <a:r>
              <a:t>Утвердить проверку рынка Астаны и B2G-проект на 2027 год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